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Open Sans" panose="020F0502020204030204" pitchFamily="34" charset="0"/>
      <p:regular r:id="rId10"/>
      <p:bold r:id="rId11"/>
      <p:italic r:id="rId12"/>
      <p:boldItalic r:id="rId13"/>
    </p:embeddedFont>
    <p:embeddedFont>
      <p:font typeface="Open Sans Light" panose="020F050202020403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299b47b1abc13673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h299b47b1abc13673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h299b47b1abc13673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299b47b1abc13673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h299b47b1abc13673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h299b47b1abc13673_1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299b47b1abc13673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h299b47b1abc13673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h299b47b1abc13673_1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299b47b1abc13673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h299b47b1abc13673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h299b47b1abc13673_1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299b47b1abc13673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h299b47b1abc13673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h299b47b1abc13673_1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881600" y="2093115"/>
            <a:ext cx="5380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1" dirty="0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EVENT DATA PIPELINE &amp; INSIGHTS</a:t>
            </a:r>
            <a:endParaRPr sz="300" i="1" dirty="0"/>
          </a:p>
        </p:txBody>
      </p:sp>
      <p:sp>
        <p:nvSpPr>
          <p:cNvPr id="94" name="Google Shape;94;p13"/>
          <p:cNvSpPr/>
          <p:nvPr/>
        </p:nvSpPr>
        <p:spPr>
          <a:xfrm>
            <a:off x="1820550" y="3010442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Synthetic Event Survey Analytics</a:t>
            </a: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289950" y="3314594"/>
            <a:ext cx="8564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Five Community Health Events | Python &amp; Pandas</a:t>
            </a:r>
            <a:endParaRPr sz="11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12250" y="4730100"/>
            <a:ext cx="198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Emmanuel Owusu-Ampaw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382450" y="4730100"/>
            <a:ext cx="3742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Independent Data Analytics Portfolio Project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90450" y="1369350"/>
            <a:ext cx="8363100" cy="3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325 synthetic survey records analyzed across five community health events
Awareness: Very/Extremely Aware was 21.9% pre-survey vs. 29.8% post-survey (+7.9 pp)
Doctor Comfort: Comfortable/Very Comfortable was 16.9% vs. 21.2% (+4.3 pp)
Device Use: Regular monitoring device use was 27.4% vs. 26.5% (-0.8 pp)
Event Variation: Positive satisfaction ranged from 14.3% to 43.3%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  <a:p>
            <a:pPr marL="45720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57249" y="602026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Executive Summary</a:t>
            </a:r>
            <a:endParaRPr sz="26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44650" y="4617400"/>
            <a:ext cx="83631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900" i="1">
                <a:solidFill>
                  <a:schemeClr val="dk1"/>
                </a:solidFill>
              </a:rPr>
              <a:t>Synthetic dataset; pre- and post-survey responses were analyzed as separate groups, not matched individuals.</a:t>
            </a:r>
            <a:endParaRPr sz="800" i="1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390449" y="945901"/>
            <a:ext cx="8363100" cy="3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Methodology
• Combined five synthetic event worksheets into one analysis-ready dataset
• Standardized columns, categories, and data types
• Preserved event labels, dates, participant IDs, and survey phase
• Compared pre- and post-survey response distributions
Data Quality
• Checked missing values and duplicate records
• Validated row counts and standardized categories
• Used reproducible Python / pandas transformations
• Documented assumptions and analysis limitations</a:t>
            </a:r>
            <a:endParaRPr sz="1100" b="1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dirty="0">
                <a:solidFill>
                  <a:schemeClr val="dk1"/>
                </a:solidFill>
              </a:rPr>
            </a:br>
            <a:br>
              <a:rPr lang="en-US" sz="1100" dirty="0">
                <a:solidFill>
                  <a:schemeClr val="dk1"/>
                </a:solidFill>
              </a:rPr>
            </a:br>
            <a:br>
              <a:rPr lang="en-U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dirty="0">
                <a:solidFill>
                  <a:schemeClr val="dk1"/>
                </a:solidFill>
              </a:rPr>
            </a:br>
            <a:br>
              <a:rPr lang="en-US" sz="1100" dirty="0">
                <a:solidFill>
                  <a:schemeClr val="dk1"/>
                </a:solidFill>
              </a:rPr>
            </a:br>
            <a:br>
              <a:rPr lang="en-US" sz="1100" dirty="0">
                <a:solidFill>
                  <a:schemeClr val="dk1"/>
                </a:solidFill>
              </a:rPr>
            </a:br>
            <a:br>
              <a:rPr lang="en-U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57249" y="453601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Methodology &amp; Data Quality </a:t>
            </a:r>
            <a:endParaRPr sz="26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90450" y="1369350"/>
            <a:ext cx="8363100" cy="3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325 synthetic survey records
196 pre-survey and 129 post-survey records
5 fictional community health events
Survey phases: Pre-Survey and Post-Survey
Age groups: 18–34, 35–49, 50–64, and 65+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57249" y="602026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Participant Profile </a:t>
            </a:r>
            <a:endParaRPr sz="26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35375" y="4617400"/>
            <a:ext cx="83631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900" i="1">
                <a:solidFill>
                  <a:schemeClr val="dk1"/>
                </a:solidFill>
              </a:rPr>
              <a:t>The synthetic dataset preserves event, date, participant ID, and survey phase for group-level comparisons.</a:t>
            </a:r>
            <a:endParaRPr sz="800" i="1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192550" y="3391125"/>
            <a:ext cx="8612100" cy="16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Awareness: 21.9% → 29.8% Very/Extremely Aware (+7.9 pp)
Doctor Comfort: 16.9% → 21.2% Comfortable/Very Comfortable (+4.3 pp)
Key takeaway: Post-survey groups reported modestly higher awareness and comfort. These are descriptive differences, not evidence of causation.</a:t>
            </a:r>
            <a:endParaRPr sz="1100" dirty="0">
              <a:solidFill>
                <a:schemeClr val="dk1"/>
              </a:solidFill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 dirty="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857249" y="453601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Awareness &amp; Doctor Comfort </a:t>
            </a:r>
            <a:endParaRPr sz="26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Picture 132" descr="portfolio_awar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50" y="1141250"/>
            <a:ext cx="3663950" cy="2362375"/>
          </a:xfrm>
          <a:prstGeom prst="rect">
            <a:avLst/>
          </a:prstGeom>
        </p:spPr>
      </p:pic>
      <p:pic>
        <p:nvPicPr>
          <p:cNvPr id="134" name="Picture 133" descr="portfolio_comf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850" y="1141250"/>
            <a:ext cx="3765351" cy="231942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57249" y="453601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Health Monitoring Device Use </a:t>
            </a:r>
            <a:endParaRPr sz="26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83275" y="3530250"/>
            <a:ext cx="86121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27.4% Pre-Survey → 26.5% Post-Survey
-0.8 percentage-point difference (rounded)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Key takeaway: Regular device use was similar in both survey groups.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b="1" dirty="0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100" i="1" dirty="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000" dirty="0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42" name="Picture 141" descr="portfolio_de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12" y="1037050"/>
            <a:ext cx="3344175" cy="237485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912899" y="105751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Age &amp; Event Differences </a:t>
            </a:r>
            <a:endParaRPr sz="26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243575" y="2616125"/>
            <a:ext cx="8612100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 b="1">
                <a:solidFill>
                  <a:schemeClr val="dk1"/>
                </a:solidFill>
              </a:rPr>
              <a:t>Age: Post-survey high awareness ranged from 26.7% (50–64) to 31.8% (35–49).
Event: Positive satisfaction ranged from 14.3% (Community Wellness Forum) to 43.3% (Regional Health Expo).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000">
              <a:solidFill>
                <a:srgbClr val="A5A5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834874" y="3584226"/>
            <a:ext cx="74295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Recommendations &amp; Limitations </a:t>
            </a:r>
            <a:endParaRPr sz="21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45550" y="3877025"/>
            <a:ext cx="8612100" cy="11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>
                <a:solidFill>
                  <a:schemeClr val="dk1"/>
                </a:solidFill>
              </a:rPr>
              <a:t>Recommendations: Investigate variation in satisfaction across synthetic events; explore targeted awareness education; assess barriers to health-monitoring device use.
Limitations: Data are fully synthetic. Survey phases are not individually matched and observed group differences do not establish causal effects.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53" name="Picture 152" descr="portfolio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00" y="622950"/>
            <a:ext cx="3541351" cy="2101525"/>
          </a:xfrm>
          <a:prstGeom prst="rect">
            <a:avLst/>
          </a:prstGeom>
        </p:spPr>
      </p:pic>
      <p:pic>
        <p:nvPicPr>
          <p:cNvPr id="154" name="Picture 153" descr="portfolio_satisf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725" y="667325"/>
            <a:ext cx="3592151" cy="19488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3F3F3F"/>
      </a:dk2>
      <a:lt2>
        <a:srgbClr val="FCFCFC"/>
      </a:lt2>
      <a:accent1>
        <a:srgbClr val="F8D35E"/>
      </a:accent1>
      <a:accent2>
        <a:srgbClr val="1B6AA3"/>
      </a:accent2>
      <a:accent3>
        <a:srgbClr val="3FD5BA"/>
      </a:accent3>
      <a:accent4>
        <a:srgbClr val="F47264"/>
      </a:accent4>
      <a:accent5>
        <a:srgbClr val="8F8FBF"/>
      </a:accent5>
      <a:accent6>
        <a:srgbClr val="7CC8EC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On-screen Show (16:9)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Open Sans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Data Pipeline &amp; Insights | Synthetic Portfolio Analysis</dc:title>
  <dc:subject>Independent synthetic-data portfolio project</dc:subject>
  <cp:keywords>synthetic data, Python, pandas, event analytics</cp:keywords>
  <cp:lastModifiedBy>Emmanuel Owusu-Ampaw</cp:lastModifiedBy>
  <cp:revision>2</cp:revision>
  <dcterms:modified xsi:type="dcterms:W3CDTF">2026-10-22T18:57:46Z</dcterms:modified>
</cp:coreProperties>
</file>